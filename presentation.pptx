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63" r:id="rId4"/>
    <p:sldId id="273" r:id="rId5"/>
    <p:sldId id="264" r:id="rId6"/>
    <p:sldId id="270" r:id="rId7"/>
    <p:sldId id="265" r:id="rId8"/>
    <p:sldId id="258" r:id="rId9"/>
    <p:sldId id="259" r:id="rId10"/>
    <p:sldId id="272" r:id="rId11"/>
    <p:sldId id="260" r:id="rId12"/>
    <p:sldId id="266" r:id="rId13"/>
    <p:sldId id="267" r:id="rId14"/>
    <p:sldId id="268" r:id="rId15"/>
    <p:sldId id="271" r:id="rId16"/>
    <p:sldId id="269" r:id="rId17"/>
    <p:sldId id="261" r:id="rId18"/>
    <p:sldId id="262" r:id="rId19"/>
  </p:sldIdLst>
  <p:sldSz cx="9144000" cy="5143500" type="screen16x9"/>
  <p:notesSz cx="6858000" cy="9144000"/>
  <p:embeddedFontLst>
    <p:embeddedFont>
      <p:font typeface="Montserrat" panose="00000500000000000000" pitchFamily="2" charset="0"/>
      <p:regular r:id="rId21"/>
      <p:bold r:id="rId22"/>
      <p:italic r:id="rId23"/>
      <p:boldItalic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077">
          <p15:clr>
            <a:srgbClr val="A4A3A4"/>
          </p15:clr>
        </p15:guide>
        <p15:guide id="2" pos="2721">
          <p15:clr>
            <a:srgbClr val="A4A3A4"/>
          </p15:clr>
        </p15:guide>
        <p15:guide id="3" pos="2438">
          <p15:clr>
            <a:srgbClr val="9AA0A6"/>
          </p15:clr>
        </p15:guide>
        <p15:guide id="4" pos="416">
          <p15:clr>
            <a:srgbClr val="9AA0A6"/>
          </p15:clr>
        </p15:guide>
        <p15:guide id="5" pos="1191">
          <p15:clr>
            <a:srgbClr val="9AA0A6"/>
          </p15:clr>
        </p15:guide>
        <p15:guide id="6" pos="638">
          <p15:clr>
            <a:srgbClr val="9AA0A6"/>
          </p15:clr>
        </p15:guide>
      </p15:sld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5" roundtripDataSignature="AMtx7miohyEog1akfKJRRdWquyApPmpAp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23" d="100"/>
          <a:sy n="123" d="100"/>
        </p:scale>
        <p:origin x="226" y="86"/>
      </p:cViewPr>
      <p:guideLst>
        <p:guide orient="horz" pos="1077"/>
        <p:guide pos="2721"/>
        <p:guide pos="2438"/>
        <p:guide pos="416"/>
        <p:guide pos="1191"/>
        <p:guide pos="63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1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customschemas.google.com/relationships/presentationmetadata" Target="meta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" name="Google Shape;5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1" name="Google Shape;61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>
          <a:extLst>
            <a:ext uri="{FF2B5EF4-FFF2-40B4-BE49-F238E27FC236}">
              <a16:creationId xmlns:a16="http://schemas.microsoft.com/office/drawing/2014/main" id="{C79C3597-A2C3-7576-DFE1-E2AF0CEBB3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4:notes">
            <a:extLst>
              <a:ext uri="{FF2B5EF4-FFF2-40B4-BE49-F238E27FC236}">
                <a16:creationId xmlns:a16="http://schemas.microsoft.com/office/drawing/2014/main" id="{F6871B75-85AD-3D0B-F30C-07F627D73AA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1" name="Google Shape;61;p4:notes">
            <a:extLst>
              <a:ext uri="{FF2B5EF4-FFF2-40B4-BE49-F238E27FC236}">
                <a16:creationId xmlns:a16="http://schemas.microsoft.com/office/drawing/2014/main" id="{92E73BCC-F1F8-7CCA-6226-79512BCBE60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6006074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>
          <a:extLst>
            <a:ext uri="{FF2B5EF4-FFF2-40B4-BE49-F238E27FC236}">
              <a16:creationId xmlns:a16="http://schemas.microsoft.com/office/drawing/2014/main" id="{C3B376F2-714A-0B8A-D751-CE244449A9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4:notes">
            <a:extLst>
              <a:ext uri="{FF2B5EF4-FFF2-40B4-BE49-F238E27FC236}">
                <a16:creationId xmlns:a16="http://schemas.microsoft.com/office/drawing/2014/main" id="{46DD7548-DB54-0CAD-170A-E1ED6DDA305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1" name="Google Shape;61;p4:notes">
            <a:extLst>
              <a:ext uri="{FF2B5EF4-FFF2-40B4-BE49-F238E27FC236}">
                <a16:creationId xmlns:a16="http://schemas.microsoft.com/office/drawing/2014/main" id="{12B2A0A5-B3A8-3BEE-812C-FD6F594202C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6481297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>
          <a:extLst>
            <a:ext uri="{FF2B5EF4-FFF2-40B4-BE49-F238E27FC236}">
              <a16:creationId xmlns:a16="http://schemas.microsoft.com/office/drawing/2014/main" id="{28304645-1C06-D52C-E7BB-A858485952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4:notes">
            <a:extLst>
              <a:ext uri="{FF2B5EF4-FFF2-40B4-BE49-F238E27FC236}">
                <a16:creationId xmlns:a16="http://schemas.microsoft.com/office/drawing/2014/main" id="{903ABEF1-2389-50C0-513A-ED75997A1EC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1" name="Google Shape;61;p4:notes">
            <a:extLst>
              <a:ext uri="{FF2B5EF4-FFF2-40B4-BE49-F238E27FC236}">
                <a16:creationId xmlns:a16="http://schemas.microsoft.com/office/drawing/2014/main" id="{41E929F4-9D66-298D-E8D8-FA00421479A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7449023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>
          <a:extLst>
            <a:ext uri="{FF2B5EF4-FFF2-40B4-BE49-F238E27FC236}">
              <a16:creationId xmlns:a16="http://schemas.microsoft.com/office/drawing/2014/main" id="{BF948691-DC59-AF63-AF73-8719A73642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4:notes">
            <a:extLst>
              <a:ext uri="{FF2B5EF4-FFF2-40B4-BE49-F238E27FC236}">
                <a16:creationId xmlns:a16="http://schemas.microsoft.com/office/drawing/2014/main" id="{B062E44F-4DF3-25B2-FEF8-03BFF4BDF8D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1" name="Google Shape;61;p4:notes">
            <a:extLst>
              <a:ext uri="{FF2B5EF4-FFF2-40B4-BE49-F238E27FC236}">
                <a16:creationId xmlns:a16="http://schemas.microsoft.com/office/drawing/2014/main" id="{0B631073-E6B9-D05A-98E9-6D156F019F4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8086941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>
          <a:extLst>
            <a:ext uri="{FF2B5EF4-FFF2-40B4-BE49-F238E27FC236}">
              <a16:creationId xmlns:a16="http://schemas.microsoft.com/office/drawing/2014/main" id="{0AF4B3DF-65FA-ECD1-5329-56334B933F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4:notes">
            <a:extLst>
              <a:ext uri="{FF2B5EF4-FFF2-40B4-BE49-F238E27FC236}">
                <a16:creationId xmlns:a16="http://schemas.microsoft.com/office/drawing/2014/main" id="{348AB106-9819-DCEB-C052-8A0DA24AFB6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1" name="Google Shape;61;p4:notes">
            <a:extLst>
              <a:ext uri="{FF2B5EF4-FFF2-40B4-BE49-F238E27FC236}">
                <a16:creationId xmlns:a16="http://schemas.microsoft.com/office/drawing/2014/main" id="{4644E8EA-FD14-FA03-F584-A8644E09B4D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8022780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9" name="Google Shape;69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7" name="Google Shape;77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>
          <a:extLst>
            <a:ext uri="{FF2B5EF4-FFF2-40B4-BE49-F238E27FC236}">
              <a16:creationId xmlns:a16="http://schemas.microsoft.com/office/drawing/2014/main" id="{A2B7D05C-38E9-BDEE-864F-F298C85DA6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6:notes">
            <a:extLst>
              <a:ext uri="{FF2B5EF4-FFF2-40B4-BE49-F238E27FC236}">
                <a16:creationId xmlns:a16="http://schemas.microsoft.com/office/drawing/2014/main" id="{91D5D265-A4B0-AFB9-E0AD-4424CAE3429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7" name="Google Shape;77;p6:notes">
            <a:extLst>
              <a:ext uri="{FF2B5EF4-FFF2-40B4-BE49-F238E27FC236}">
                <a16:creationId xmlns:a16="http://schemas.microsoft.com/office/drawing/2014/main" id="{6F6908B1-688C-BB13-B279-3F909050761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2443363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5" name="Google Shape;85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>
          <a:extLst>
            <a:ext uri="{FF2B5EF4-FFF2-40B4-BE49-F238E27FC236}">
              <a16:creationId xmlns:a16="http://schemas.microsoft.com/office/drawing/2014/main" id="{8503B2C3-897F-3CFF-F925-A53D01655C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7:notes">
            <a:extLst>
              <a:ext uri="{FF2B5EF4-FFF2-40B4-BE49-F238E27FC236}">
                <a16:creationId xmlns:a16="http://schemas.microsoft.com/office/drawing/2014/main" id="{D9F9774B-F88B-4687-C422-1F8F9CD965C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5" name="Google Shape;85;p7:notes">
            <a:extLst>
              <a:ext uri="{FF2B5EF4-FFF2-40B4-BE49-F238E27FC236}">
                <a16:creationId xmlns:a16="http://schemas.microsoft.com/office/drawing/2014/main" id="{7B998D9C-C2DC-EF19-A66D-4968CDB9F1D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2980035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>
          <a:extLst>
            <a:ext uri="{FF2B5EF4-FFF2-40B4-BE49-F238E27FC236}">
              <a16:creationId xmlns:a16="http://schemas.microsoft.com/office/drawing/2014/main" id="{EE2EBA49-1DAC-5978-C1E7-A2CFB098D6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7:notes">
            <a:extLst>
              <a:ext uri="{FF2B5EF4-FFF2-40B4-BE49-F238E27FC236}">
                <a16:creationId xmlns:a16="http://schemas.microsoft.com/office/drawing/2014/main" id="{9CC6772A-1779-B2DE-4A24-77E1FC72275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5" name="Google Shape;85;p7:notes">
            <a:extLst>
              <a:ext uri="{FF2B5EF4-FFF2-40B4-BE49-F238E27FC236}">
                <a16:creationId xmlns:a16="http://schemas.microsoft.com/office/drawing/2014/main" id="{2BDE856B-1807-C58D-A3D6-5E35E40E076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8043761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>
          <a:extLst>
            <a:ext uri="{FF2B5EF4-FFF2-40B4-BE49-F238E27FC236}">
              <a16:creationId xmlns:a16="http://schemas.microsoft.com/office/drawing/2014/main" id="{4D4AED98-FE03-5658-BA88-856464F91F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7:notes">
            <a:extLst>
              <a:ext uri="{FF2B5EF4-FFF2-40B4-BE49-F238E27FC236}">
                <a16:creationId xmlns:a16="http://schemas.microsoft.com/office/drawing/2014/main" id="{F4750FA6-D748-71BC-79DD-39CE745C7C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5" name="Google Shape;85;p7:notes">
            <a:extLst>
              <a:ext uri="{FF2B5EF4-FFF2-40B4-BE49-F238E27FC236}">
                <a16:creationId xmlns:a16="http://schemas.microsoft.com/office/drawing/2014/main" id="{5294B7E6-D224-E6E6-3FE4-09B440D53C0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7792329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>
          <a:extLst>
            <a:ext uri="{FF2B5EF4-FFF2-40B4-BE49-F238E27FC236}">
              <a16:creationId xmlns:a16="http://schemas.microsoft.com/office/drawing/2014/main" id="{C25A475A-27A3-6B85-4EE2-59C31AB977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7:notes">
            <a:extLst>
              <a:ext uri="{FF2B5EF4-FFF2-40B4-BE49-F238E27FC236}">
                <a16:creationId xmlns:a16="http://schemas.microsoft.com/office/drawing/2014/main" id="{6EB85050-0890-57FD-8F75-FE6F3ECF5F5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5" name="Google Shape;85;p7:notes">
            <a:extLst>
              <a:ext uri="{FF2B5EF4-FFF2-40B4-BE49-F238E27FC236}">
                <a16:creationId xmlns:a16="http://schemas.microsoft.com/office/drawing/2014/main" id="{2D1296D6-0B68-222A-1479-8C89EF552DB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4419092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>
          <a:extLst>
            <a:ext uri="{FF2B5EF4-FFF2-40B4-BE49-F238E27FC236}">
              <a16:creationId xmlns:a16="http://schemas.microsoft.com/office/drawing/2014/main" id="{ACAD1E7E-051A-BCC6-779F-615AA36A45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7:notes">
            <a:extLst>
              <a:ext uri="{FF2B5EF4-FFF2-40B4-BE49-F238E27FC236}">
                <a16:creationId xmlns:a16="http://schemas.microsoft.com/office/drawing/2014/main" id="{172EEC16-2FCC-6051-ED8A-21DCF9350B1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5" name="Google Shape;85;p7:notes">
            <a:extLst>
              <a:ext uri="{FF2B5EF4-FFF2-40B4-BE49-F238E27FC236}">
                <a16:creationId xmlns:a16="http://schemas.microsoft.com/office/drawing/2014/main" id="{E7FBF50C-F724-4D10-7E07-E7BE6152A8A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1696938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13f9e8f156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3" name="Google Shape;93;g13f9e8f1567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13f9e8f1567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1" name="Google Shape;101;g13f9e8f1567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0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10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1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6" name="Google Shape;16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2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9" name="Google Shape;1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1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13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5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15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6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7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17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17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17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8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9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9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Relationship Id="rId9" Type="http://schemas.openxmlformats.org/officeDocument/2006/relationships/image" Target="../media/image32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"/>
          <p:cNvSpPr txBox="1"/>
          <p:nvPr/>
        </p:nvSpPr>
        <p:spPr>
          <a:xfrm>
            <a:off x="652150" y="1851250"/>
            <a:ext cx="7983300" cy="89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 fontScale="47500" lnSpcReduction="20000"/>
          </a:bodyPr>
          <a:lstStyle/>
          <a:p>
            <a:pPr lvl="0" algn="ctr">
              <a:buSzPct val="100000"/>
            </a:pPr>
            <a:r>
              <a:rPr lang="fr-FR" sz="5200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rPr>
              <a:t>Projet 6 - Optimisez la gestion des données d'une boutique avec R ou Python</a:t>
            </a:r>
            <a:endParaRPr sz="5200" b="0" i="0" u="none" strike="noStrike" cap="none" dirty="0">
              <a:solidFill>
                <a:srgbClr val="F3F3F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6" name="Google Shape;56;p1"/>
          <p:cNvSpPr txBox="1"/>
          <p:nvPr/>
        </p:nvSpPr>
        <p:spPr>
          <a:xfrm>
            <a:off x="4968964" y="3582148"/>
            <a:ext cx="3807680" cy="534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lang="fr"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MK</a:t>
            </a:r>
            <a:endParaRPr sz="2800" b="0" i="0" u="none" strike="noStrike" cap="none"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7" name="Google Shape;57;p1"/>
          <p:cNvSpPr txBox="1"/>
          <p:nvPr/>
        </p:nvSpPr>
        <p:spPr>
          <a:xfrm>
            <a:off x="4968964" y="3975103"/>
            <a:ext cx="3807680" cy="534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lang="fr" sz="2800" b="0" i="0" u="none" strike="noStrike" cap="none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Data 	Analyst</a:t>
            </a:r>
            <a:endParaRPr sz="2800" b="0" i="0" u="none" strike="noStrike" cap="none"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8" name="Google Shape;58;p1"/>
          <p:cNvSpPr txBox="1"/>
          <p:nvPr/>
        </p:nvSpPr>
        <p:spPr>
          <a:xfrm>
            <a:off x="4968964" y="4368058"/>
            <a:ext cx="3807680" cy="534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lang="fr" sz="2800" b="0" i="0" u="none" strike="noStrike" cap="none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05 octobre 2025</a:t>
            </a:r>
            <a:endParaRPr sz="2800" b="0" i="0" u="none" strike="noStrike" cap="none"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4"/>
          <p:cNvSpPr txBox="1">
            <a:spLocks noGrp="1"/>
          </p:cNvSpPr>
          <p:nvPr>
            <p:ph type="body" idx="1"/>
          </p:nvPr>
        </p:nvSpPr>
        <p:spPr>
          <a:xfrm>
            <a:off x="895525" y="1674500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114300" marR="0" lvl="0" indent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800"/>
              <a:buNone/>
            </a:pPr>
            <a:r>
              <a:rPr lang="fr-FR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3 fichiers : </a:t>
            </a:r>
          </a:p>
          <a:p>
            <a:pPr>
              <a:buClr>
                <a:srgbClr val="999999"/>
              </a:buClr>
            </a:pPr>
            <a:r>
              <a:rPr lang="fr-FR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ERP : extraction du logiciel de gestion de l’entreprise</a:t>
            </a:r>
          </a:p>
          <a:p>
            <a:pPr>
              <a:buClr>
                <a:srgbClr val="999999"/>
              </a:buClr>
            </a:pPr>
            <a:r>
              <a:rPr lang="fr-FR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WEB : extraction du site web</a:t>
            </a:r>
          </a:p>
          <a:p>
            <a:pPr>
              <a:buClr>
                <a:srgbClr val="999999"/>
              </a:buClr>
            </a:pPr>
            <a:r>
              <a:rPr lang="fr-FR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LIAISON : table liant les références produit entre ces deux BDD</a:t>
            </a:r>
            <a:endParaRPr dirty="0">
              <a:solidFill>
                <a:schemeClr val="tx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143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800"/>
              <a:buNone/>
            </a:pPr>
            <a:endParaRPr lang="fr" i="1" dirty="0">
              <a:solidFill>
                <a:srgbClr val="999999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14300" indent="0">
              <a:buClr>
                <a:srgbClr val="999999"/>
              </a:buClr>
              <a:buNone/>
            </a:pPr>
            <a:r>
              <a:rPr lang="fr-FR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Normalisation de la BDD : </a:t>
            </a:r>
          </a:p>
          <a:p>
            <a:pPr>
              <a:buClr>
                <a:srgbClr val="999999"/>
              </a:buClr>
            </a:pPr>
            <a:r>
              <a:rPr lang="fr-FR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Fusion des tables</a:t>
            </a:r>
          </a:p>
          <a:p>
            <a:pPr>
              <a:buClr>
                <a:srgbClr val="999999"/>
              </a:buClr>
            </a:pPr>
            <a:r>
              <a:rPr lang="fr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Suppression/Correction</a:t>
            </a:r>
          </a:p>
          <a:p>
            <a:pPr marL="857250" lvl="1" indent="-285750">
              <a:buClr>
                <a:srgbClr val="999999"/>
              </a:buClr>
            </a:pPr>
            <a:r>
              <a:rPr lang="fr-FR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d</a:t>
            </a:r>
            <a:r>
              <a:rPr lang="fr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es NaN, des doublons, valeurs aberrantes, </a:t>
            </a:r>
            <a:r>
              <a:rPr lang="fr-FR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des colonnes non pertinentes</a:t>
            </a:r>
          </a:p>
          <a:p>
            <a:pPr marL="114300" indent="0">
              <a:buClr>
                <a:srgbClr val="999999"/>
              </a:buClr>
              <a:buNone/>
            </a:pPr>
            <a:endParaRPr dirty="0">
              <a:solidFill>
                <a:schemeClr val="tx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143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800"/>
              <a:buNone/>
            </a:pPr>
            <a:endParaRPr lang="fr" i="1" dirty="0">
              <a:solidFill>
                <a:srgbClr val="99999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4" name="Google Shape;64;p4"/>
          <p:cNvSpPr/>
          <p:nvPr/>
        </p:nvSpPr>
        <p:spPr>
          <a:xfrm>
            <a:off x="0" y="0"/>
            <a:ext cx="9144000" cy="1390200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highlight>
                <a:srgbClr val="B6D7A8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4"/>
          <p:cNvSpPr txBox="1"/>
          <p:nvPr/>
        </p:nvSpPr>
        <p:spPr>
          <a:xfrm>
            <a:off x="895525" y="3372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500" b="0" i="0" u="none" strike="noStrike" cap="none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0"/>
                  </a:ext>
                </a:extLst>
              </a:rPr>
              <a:t>Analyses </a:t>
            </a:r>
            <a:r>
              <a:rPr lang="fr" sz="250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1"/>
                  </a:ext>
                </a:extLst>
              </a:rPr>
              <a:t>Exploratoires</a:t>
            </a:r>
            <a:r>
              <a:rPr lang="fr" sz="2500" b="0" i="0" u="none" strike="noStrike" cap="none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2"/>
                  </a:ext>
                </a:extLst>
              </a:rPr>
              <a:t> des Données </a:t>
            </a:r>
            <a:endParaRPr sz="2500" b="0" i="0" u="none" strike="noStrike" cap="none">
              <a:solidFill>
                <a:srgbClr val="F3F3F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6" name="Google Shape;66;p4"/>
          <p:cNvSpPr/>
          <p:nvPr/>
        </p:nvSpPr>
        <p:spPr>
          <a:xfrm>
            <a:off x="1012175" y="993350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>
          <a:extLst>
            <a:ext uri="{FF2B5EF4-FFF2-40B4-BE49-F238E27FC236}">
              <a16:creationId xmlns:a16="http://schemas.microsoft.com/office/drawing/2014/main" id="{A8792908-EAB0-931E-FC60-CED37C0980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4">
            <a:extLst>
              <a:ext uri="{FF2B5EF4-FFF2-40B4-BE49-F238E27FC236}">
                <a16:creationId xmlns:a16="http://schemas.microsoft.com/office/drawing/2014/main" id="{E907FEAC-6B66-AD58-3985-0401EA5A492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95525" y="1674500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114300" marR="0" lvl="0" indent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800"/>
              <a:buNone/>
            </a:pPr>
            <a:r>
              <a:rPr lang="fr-FR" b="1" u="sng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Table e</a:t>
            </a:r>
            <a:r>
              <a:rPr lang="fr" b="1" u="sng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rp :</a:t>
            </a:r>
          </a:p>
          <a:p>
            <a:pPr>
              <a:buClr>
                <a:srgbClr val="999999"/>
              </a:buClr>
            </a:pPr>
            <a:r>
              <a:rPr lang="fr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Stocks erronés</a:t>
            </a:r>
          </a:p>
          <a:p>
            <a:pPr>
              <a:buClr>
                <a:srgbClr val="999999"/>
              </a:buClr>
            </a:pPr>
            <a:endParaRPr lang="fr" dirty="0">
              <a:solidFill>
                <a:schemeClr val="tx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>
              <a:buClr>
                <a:srgbClr val="999999"/>
              </a:buClr>
            </a:pPr>
            <a:endParaRPr lang="fr" dirty="0">
              <a:solidFill>
                <a:schemeClr val="tx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>
              <a:buClr>
                <a:srgbClr val="999999"/>
              </a:buClr>
            </a:pPr>
            <a:endParaRPr lang="fr" dirty="0">
              <a:solidFill>
                <a:schemeClr val="tx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>
              <a:buClr>
                <a:srgbClr val="999999"/>
              </a:buClr>
            </a:pPr>
            <a:r>
              <a:rPr lang="fr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Prix négatifs</a:t>
            </a:r>
          </a:p>
          <a:p>
            <a:pPr marL="1143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800"/>
              <a:buNone/>
            </a:pPr>
            <a:endParaRPr i="1" dirty="0">
              <a:solidFill>
                <a:srgbClr val="99999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4" name="Google Shape;64;p4">
            <a:extLst>
              <a:ext uri="{FF2B5EF4-FFF2-40B4-BE49-F238E27FC236}">
                <a16:creationId xmlns:a16="http://schemas.microsoft.com/office/drawing/2014/main" id="{0F9D69D3-E00B-328C-7704-45B2570B428C}"/>
              </a:ext>
            </a:extLst>
          </p:cNvPr>
          <p:cNvSpPr/>
          <p:nvPr/>
        </p:nvSpPr>
        <p:spPr>
          <a:xfrm>
            <a:off x="0" y="0"/>
            <a:ext cx="9144000" cy="1390200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highlight>
                <a:srgbClr val="B6D7A8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4">
            <a:extLst>
              <a:ext uri="{FF2B5EF4-FFF2-40B4-BE49-F238E27FC236}">
                <a16:creationId xmlns:a16="http://schemas.microsoft.com/office/drawing/2014/main" id="{D7BDD2B9-67E4-CF7B-2C96-EF89544F3536}"/>
              </a:ext>
            </a:extLst>
          </p:cNvPr>
          <p:cNvSpPr txBox="1"/>
          <p:nvPr/>
        </p:nvSpPr>
        <p:spPr>
          <a:xfrm>
            <a:off x="895525" y="3372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500" b="0" i="0" u="none" strike="noStrike" cap="none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  <a:extLst>
                  <a:ext uri="http://customooxmlschemas.google.com/">
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0"/>
                  </a:ext>
                </a:extLst>
              </a:rPr>
              <a:t>Analyses </a:t>
            </a:r>
            <a:r>
              <a:rPr lang="fr" sz="250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  <a:extLst>
                  <a:ext uri="http://customooxmlschemas.google.com/">
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1"/>
                  </a:ext>
                </a:extLst>
              </a:rPr>
              <a:t>Exploratoires</a:t>
            </a:r>
            <a:r>
              <a:rPr lang="fr" sz="2500" b="0" i="0" u="none" strike="noStrike" cap="none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  <a:extLst>
                  <a:ext uri="http://customooxmlschemas.google.com/">
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2"/>
                  </a:ext>
                </a:extLst>
              </a:rPr>
              <a:t> des Données </a:t>
            </a:r>
            <a:endParaRPr sz="2500" b="0" i="0" u="none" strike="noStrike" cap="none">
              <a:solidFill>
                <a:srgbClr val="F3F3F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6" name="Google Shape;66;p4">
            <a:extLst>
              <a:ext uri="{FF2B5EF4-FFF2-40B4-BE49-F238E27FC236}">
                <a16:creationId xmlns:a16="http://schemas.microsoft.com/office/drawing/2014/main" id="{E813494E-C948-E00E-7A11-1690E7E269C0}"/>
              </a:ext>
            </a:extLst>
          </p:cNvPr>
          <p:cNvSpPr/>
          <p:nvPr/>
        </p:nvSpPr>
        <p:spPr>
          <a:xfrm>
            <a:off x="1012175" y="993350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CD440025-2CD5-BAEC-CBA9-687E84AF98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5618" y="2325763"/>
            <a:ext cx="5758994" cy="916053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187B9428-0CC5-5488-B92E-C5C74EF794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15618" y="3748868"/>
            <a:ext cx="5758994" cy="9122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45980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>
          <a:extLst>
            <a:ext uri="{FF2B5EF4-FFF2-40B4-BE49-F238E27FC236}">
              <a16:creationId xmlns:a16="http://schemas.microsoft.com/office/drawing/2014/main" id="{BF305C81-6E5B-C6C8-3B17-CE7294CBDE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4">
            <a:extLst>
              <a:ext uri="{FF2B5EF4-FFF2-40B4-BE49-F238E27FC236}">
                <a16:creationId xmlns:a16="http://schemas.microsoft.com/office/drawing/2014/main" id="{7E758B06-3807-7EAA-BB02-2649B6AB8EB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95525" y="1674500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114300" marR="0" lvl="0" indent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800"/>
              <a:buNone/>
            </a:pPr>
            <a:r>
              <a:rPr lang="fr-FR" b="1" u="sng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Table e</a:t>
            </a:r>
            <a:r>
              <a:rPr lang="fr" b="1" u="sng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rp :</a:t>
            </a:r>
          </a:p>
          <a:p>
            <a:pPr>
              <a:buClr>
                <a:srgbClr val="999999"/>
              </a:buClr>
            </a:pPr>
            <a:r>
              <a:rPr lang="fr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Prix de vente incohérents</a:t>
            </a:r>
          </a:p>
          <a:p>
            <a:pPr marL="1143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800"/>
              <a:buNone/>
            </a:pPr>
            <a:endParaRPr i="1" dirty="0">
              <a:solidFill>
                <a:srgbClr val="99999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4" name="Google Shape;64;p4">
            <a:extLst>
              <a:ext uri="{FF2B5EF4-FFF2-40B4-BE49-F238E27FC236}">
                <a16:creationId xmlns:a16="http://schemas.microsoft.com/office/drawing/2014/main" id="{EFDB715E-BB1B-4469-BD0B-6AD0F511E352}"/>
              </a:ext>
            </a:extLst>
          </p:cNvPr>
          <p:cNvSpPr/>
          <p:nvPr/>
        </p:nvSpPr>
        <p:spPr>
          <a:xfrm>
            <a:off x="0" y="0"/>
            <a:ext cx="9144000" cy="1390200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highlight>
                <a:srgbClr val="B6D7A8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4">
            <a:extLst>
              <a:ext uri="{FF2B5EF4-FFF2-40B4-BE49-F238E27FC236}">
                <a16:creationId xmlns:a16="http://schemas.microsoft.com/office/drawing/2014/main" id="{EB611D58-754F-007B-FAF2-3AE5BD419AC8}"/>
              </a:ext>
            </a:extLst>
          </p:cNvPr>
          <p:cNvSpPr txBox="1"/>
          <p:nvPr/>
        </p:nvSpPr>
        <p:spPr>
          <a:xfrm>
            <a:off x="895525" y="3372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500" b="0" i="0" u="none" strike="noStrike" cap="none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0"/>
                  </a:ext>
                </a:extLst>
              </a:rPr>
              <a:t>Analyses </a:t>
            </a:r>
            <a:r>
              <a:rPr lang="fr" sz="250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1"/>
                  </a:ext>
                </a:extLst>
              </a:rPr>
              <a:t>Exploratoires</a:t>
            </a:r>
            <a:r>
              <a:rPr lang="fr" sz="2500" b="0" i="0" u="none" strike="noStrike" cap="none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2"/>
                  </a:ext>
                </a:extLst>
              </a:rPr>
              <a:t> des Données </a:t>
            </a:r>
            <a:endParaRPr sz="2500" b="0" i="0" u="none" strike="noStrike" cap="none">
              <a:solidFill>
                <a:srgbClr val="F3F3F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6" name="Google Shape;66;p4">
            <a:extLst>
              <a:ext uri="{FF2B5EF4-FFF2-40B4-BE49-F238E27FC236}">
                <a16:creationId xmlns:a16="http://schemas.microsoft.com/office/drawing/2014/main" id="{824AFF2D-8794-243F-D8A1-8B021EE7106D}"/>
              </a:ext>
            </a:extLst>
          </p:cNvPr>
          <p:cNvSpPr/>
          <p:nvPr/>
        </p:nvSpPr>
        <p:spPr>
          <a:xfrm>
            <a:off x="1012175" y="993350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4EA45999-65F0-EE4A-31C2-DF6C73E4AE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1839" y="2571750"/>
            <a:ext cx="6020322" cy="18289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52465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>
          <a:extLst>
            <a:ext uri="{FF2B5EF4-FFF2-40B4-BE49-F238E27FC236}">
              <a16:creationId xmlns:a16="http://schemas.microsoft.com/office/drawing/2014/main" id="{03F96173-62EE-166D-9E91-7F7EDA8083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4">
            <a:extLst>
              <a:ext uri="{FF2B5EF4-FFF2-40B4-BE49-F238E27FC236}">
                <a16:creationId xmlns:a16="http://schemas.microsoft.com/office/drawing/2014/main" id="{9D1389B3-5D0E-0A6C-284E-CBF58C1AC97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95525" y="1674500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1143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800"/>
              <a:buNone/>
            </a:pPr>
            <a:r>
              <a:rPr lang="fr" b="1" u="sng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Table </a:t>
            </a:r>
            <a:r>
              <a:rPr lang="fr-FR" b="1" u="sng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web</a:t>
            </a:r>
            <a:r>
              <a:rPr lang="fr" b="1" u="sng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 : </a:t>
            </a:r>
          </a:p>
          <a:p>
            <a:pPr>
              <a:buClr>
                <a:srgbClr val="999999"/>
              </a:buClr>
            </a:pPr>
            <a:r>
              <a:rPr lang="fr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Codification</a:t>
            </a:r>
          </a:p>
          <a:p>
            <a:pPr>
              <a:buClr>
                <a:srgbClr val="999999"/>
              </a:buClr>
            </a:pPr>
            <a:r>
              <a:rPr lang="fr-FR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Produits et pièces jointes</a:t>
            </a:r>
          </a:p>
          <a:p>
            <a:pPr>
              <a:buClr>
                <a:srgbClr val="999999"/>
              </a:buClr>
            </a:pPr>
            <a:endParaRPr lang="fr-FR" dirty="0">
              <a:solidFill>
                <a:schemeClr val="tx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>
              <a:buClr>
                <a:srgbClr val="999999"/>
              </a:buClr>
            </a:pPr>
            <a:endParaRPr lang="fr" dirty="0">
              <a:solidFill>
                <a:schemeClr val="tx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>
              <a:buClr>
                <a:srgbClr val="999999"/>
              </a:buClr>
            </a:pPr>
            <a:endParaRPr lang="fr" dirty="0">
              <a:solidFill>
                <a:schemeClr val="tx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>
              <a:buClr>
                <a:srgbClr val="999999"/>
              </a:buClr>
            </a:pPr>
            <a:endParaRPr lang="fr" dirty="0">
              <a:solidFill>
                <a:schemeClr val="tx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>
              <a:buClr>
                <a:srgbClr val="999999"/>
              </a:buClr>
            </a:pPr>
            <a:r>
              <a:rPr lang="fr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714 produits ont des doublons</a:t>
            </a:r>
          </a:p>
          <a:p>
            <a:pPr marL="114300" indent="0">
              <a:buClr>
                <a:srgbClr val="999999"/>
              </a:buClr>
              <a:buNone/>
            </a:pPr>
            <a:r>
              <a:rPr lang="fr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(715-nan)</a:t>
            </a:r>
          </a:p>
          <a:p>
            <a:pPr marL="114300" indent="0">
              <a:buClr>
                <a:srgbClr val="999999"/>
              </a:buClr>
              <a:buNone/>
            </a:pPr>
            <a:endParaRPr dirty="0">
              <a:solidFill>
                <a:schemeClr val="tx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4" name="Google Shape;64;p4">
            <a:extLst>
              <a:ext uri="{FF2B5EF4-FFF2-40B4-BE49-F238E27FC236}">
                <a16:creationId xmlns:a16="http://schemas.microsoft.com/office/drawing/2014/main" id="{5E3F681D-5030-C05E-D149-DCD44600F737}"/>
              </a:ext>
            </a:extLst>
          </p:cNvPr>
          <p:cNvSpPr/>
          <p:nvPr/>
        </p:nvSpPr>
        <p:spPr>
          <a:xfrm>
            <a:off x="0" y="0"/>
            <a:ext cx="9144000" cy="1390200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highlight>
                <a:srgbClr val="B6D7A8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4">
            <a:extLst>
              <a:ext uri="{FF2B5EF4-FFF2-40B4-BE49-F238E27FC236}">
                <a16:creationId xmlns:a16="http://schemas.microsoft.com/office/drawing/2014/main" id="{7BFD86A8-6489-0FAA-2EBE-1761389748F2}"/>
              </a:ext>
            </a:extLst>
          </p:cNvPr>
          <p:cNvSpPr txBox="1"/>
          <p:nvPr/>
        </p:nvSpPr>
        <p:spPr>
          <a:xfrm>
            <a:off x="895525" y="3372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500" b="0" i="0" u="none" strike="noStrike" cap="none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0"/>
                  </a:ext>
                </a:extLst>
              </a:rPr>
              <a:t>Analyses </a:t>
            </a:r>
            <a:r>
              <a:rPr lang="fr" sz="250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1"/>
                  </a:ext>
                </a:extLst>
              </a:rPr>
              <a:t>Exploratoires</a:t>
            </a:r>
            <a:r>
              <a:rPr lang="fr" sz="2500" b="0" i="0" u="none" strike="noStrike" cap="none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2"/>
                  </a:ext>
                </a:extLst>
              </a:rPr>
              <a:t> des Données </a:t>
            </a:r>
            <a:endParaRPr sz="2500" b="0" i="0" u="none" strike="noStrike" cap="none">
              <a:solidFill>
                <a:srgbClr val="F3F3F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6" name="Google Shape;66;p4">
            <a:extLst>
              <a:ext uri="{FF2B5EF4-FFF2-40B4-BE49-F238E27FC236}">
                <a16:creationId xmlns:a16="http://schemas.microsoft.com/office/drawing/2014/main" id="{D5357173-8430-0F30-A51B-8FD4891D9C51}"/>
              </a:ext>
            </a:extLst>
          </p:cNvPr>
          <p:cNvSpPr/>
          <p:nvPr/>
        </p:nvSpPr>
        <p:spPr>
          <a:xfrm>
            <a:off x="1012175" y="993350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D0915FCD-49A4-3DC7-A619-2A9BFE0633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76909" y="1909225"/>
            <a:ext cx="2751803" cy="1837307"/>
          </a:xfrm>
          <a:prstGeom prst="rect">
            <a:avLst/>
          </a:prstGeom>
        </p:spPr>
      </p:pic>
      <p:pic>
        <p:nvPicPr>
          <p:cNvPr id="3" name="Image 2">
            <a:extLst>
              <a:ext uri="{FF2B5EF4-FFF2-40B4-BE49-F238E27FC236}">
                <a16:creationId xmlns:a16="http://schemas.microsoft.com/office/drawing/2014/main" id="{B5AD8ED0-D32C-AD19-9AA6-7DFD4B3314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6909" y="3981257"/>
            <a:ext cx="2149026" cy="556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74630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>
          <a:extLst>
            <a:ext uri="{FF2B5EF4-FFF2-40B4-BE49-F238E27FC236}">
              <a16:creationId xmlns:a16="http://schemas.microsoft.com/office/drawing/2014/main" id="{223860E3-C741-91D5-D426-ADF95CA950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4">
            <a:extLst>
              <a:ext uri="{FF2B5EF4-FFF2-40B4-BE49-F238E27FC236}">
                <a16:creationId xmlns:a16="http://schemas.microsoft.com/office/drawing/2014/main" id="{BF3C3398-880E-D126-477A-F5FBC37688F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95525" y="1674500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1143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800"/>
              <a:buNone/>
            </a:pPr>
            <a:r>
              <a:rPr lang="fr" b="1" u="sng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Table </a:t>
            </a:r>
            <a:r>
              <a:rPr lang="fr-FR" b="1" u="sng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web</a:t>
            </a:r>
            <a:r>
              <a:rPr lang="fr" b="1" u="sng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 : </a:t>
            </a:r>
          </a:p>
          <a:p>
            <a:pPr>
              <a:buClr>
                <a:srgbClr val="999999"/>
              </a:buClr>
            </a:pPr>
            <a:r>
              <a:rPr lang="fr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83 lignes sont vides</a:t>
            </a:r>
          </a:p>
          <a:p>
            <a:pPr>
              <a:buClr>
                <a:srgbClr val="999999"/>
              </a:buClr>
            </a:pPr>
            <a:endParaRPr lang="fr" dirty="0">
              <a:solidFill>
                <a:schemeClr val="tx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>
              <a:buClr>
                <a:srgbClr val="999999"/>
              </a:buClr>
            </a:pPr>
            <a:endParaRPr lang="fr" dirty="0">
              <a:solidFill>
                <a:schemeClr val="tx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14300" indent="0">
              <a:buClr>
                <a:srgbClr val="999999"/>
              </a:buClr>
              <a:buNone/>
            </a:pPr>
            <a:endParaRPr lang="fr" dirty="0">
              <a:solidFill>
                <a:schemeClr val="tx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>
              <a:buClr>
                <a:srgbClr val="999999"/>
              </a:buClr>
            </a:pPr>
            <a:r>
              <a:rPr lang="fr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2 articles sans sku </a:t>
            </a:r>
          </a:p>
          <a:p>
            <a:pPr marL="114300" indent="0">
              <a:buClr>
                <a:srgbClr val="999999"/>
              </a:buClr>
              <a:buNone/>
            </a:pPr>
            <a:r>
              <a:rPr lang="fr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mais des ventes négatives</a:t>
            </a:r>
          </a:p>
        </p:txBody>
      </p:sp>
      <p:sp>
        <p:nvSpPr>
          <p:cNvPr id="64" name="Google Shape;64;p4">
            <a:extLst>
              <a:ext uri="{FF2B5EF4-FFF2-40B4-BE49-F238E27FC236}">
                <a16:creationId xmlns:a16="http://schemas.microsoft.com/office/drawing/2014/main" id="{069074CA-F847-09EB-B142-4A7517B3C143}"/>
              </a:ext>
            </a:extLst>
          </p:cNvPr>
          <p:cNvSpPr/>
          <p:nvPr/>
        </p:nvSpPr>
        <p:spPr>
          <a:xfrm>
            <a:off x="0" y="0"/>
            <a:ext cx="9144000" cy="1390200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highlight>
                <a:srgbClr val="B6D7A8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4">
            <a:extLst>
              <a:ext uri="{FF2B5EF4-FFF2-40B4-BE49-F238E27FC236}">
                <a16:creationId xmlns:a16="http://schemas.microsoft.com/office/drawing/2014/main" id="{5D3B0A14-50E1-156B-F3D8-08E9D24CB330}"/>
              </a:ext>
            </a:extLst>
          </p:cNvPr>
          <p:cNvSpPr txBox="1"/>
          <p:nvPr/>
        </p:nvSpPr>
        <p:spPr>
          <a:xfrm>
            <a:off x="895525" y="3372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500" b="0" i="0" u="none" strike="noStrike" cap="none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  <a:extLst>
                  <a:ext uri="http://customooxmlschemas.google.com/">
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0"/>
                  </a:ext>
                </a:extLst>
              </a:rPr>
              <a:t>Analyses </a:t>
            </a:r>
            <a:r>
              <a:rPr lang="fr" sz="250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  <a:extLst>
                  <a:ext uri="http://customooxmlschemas.google.com/">
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1"/>
                  </a:ext>
                </a:extLst>
              </a:rPr>
              <a:t>Exploratoires</a:t>
            </a:r>
            <a:r>
              <a:rPr lang="fr" sz="2500" b="0" i="0" u="none" strike="noStrike" cap="none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  <a:extLst>
                  <a:ext uri="http://customooxmlschemas.google.com/">
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2"/>
                  </a:ext>
                </a:extLst>
              </a:rPr>
              <a:t> des Données </a:t>
            </a:r>
            <a:endParaRPr sz="2500" b="0" i="0" u="none" strike="noStrike" cap="none">
              <a:solidFill>
                <a:srgbClr val="F3F3F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6" name="Google Shape;66;p4">
            <a:extLst>
              <a:ext uri="{FF2B5EF4-FFF2-40B4-BE49-F238E27FC236}">
                <a16:creationId xmlns:a16="http://schemas.microsoft.com/office/drawing/2014/main" id="{B05A73E8-2075-8169-36B8-F0E238286D5D}"/>
              </a:ext>
            </a:extLst>
          </p:cNvPr>
          <p:cNvSpPr/>
          <p:nvPr/>
        </p:nvSpPr>
        <p:spPr>
          <a:xfrm>
            <a:off x="1012175" y="993350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B8ED55B1-ABF5-6C1D-E0C0-837B66288F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2057922"/>
            <a:ext cx="2662047" cy="1211691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0A5B70B9-DE7B-722B-88E3-B34E4B44E9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3601519"/>
            <a:ext cx="2854050" cy="14080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73255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>
          <a:extLst>
            <a:ext uri="{FF2B5EF4-FFF2-40B4-BE49-F238E27FC236}">
              <a16:creationId xmlns:a16="http://schemas.microsoft.com/office/drawing/2014/main" id="{2AF1260A-0CB5-16A3-9A4B-9ACFBF22E1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4">
            <a:extLst>
              <a:ext uri="{FF2B5EF4-FFF2-40B4-BE49-F238E27FC236}">
                <a16:creationId xmlns:a16="http://schemas.microsoft.com/office/drawing/2014/main" id="{A34BE34B-91CB-19C1-BE05-E9755B9682F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95525" y="1674500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1143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800"/>
              <a:buNone/>
            </a:pPr>
            <a:r>
              <a:rPr lang="fr" b="1" u="sng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Table </a:t>
            </a:r>
            <a:r>
              <a:rPr lang="fr-FR" b="1" u="sng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liaison</a:t>
            </a:r>
            <a:r>
              <a:rPr lang="fr" b="1" u="sng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 : </a:t>
            </a:r>
          </a:p>
          <a:p>
            <a:pPr>
              <a:buClr>
                <a:srgbClr val="999999"/>
              </a:buClr>
            </a:pPr>
            <a:r>
              <a:rPr lang="fr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91 id_web sans correspondance avec un product_id</a:t>
            </a:r>
          </a:p>
          <a:p>
            <a:pPr marL="1143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800"/>
              <a:buNone/>
            </a:pPr>
            <a:endParaRPr lang="fr" u="sng" dirty="0">
              <a:solidFill>
                <a:schemeClr val="tx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143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800"/>
              <a:buNone/>
            </a:pPr>
            <a:endParaRPr i="1" dirty="0">
              <a:solidFill>
                <a:srgbClr val="99999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4" name="Google Shape;64;p4">
            <a:extLst>
              <a:ext uri="{FF2B5EF4-FFF2-40B4-BE49-F238E27FC236}">
                <a16:creationId xmlns:a16="http://schemas.microsoft.com/office/drawing/2014/main" id="{8E566BE0-F672-EEA3-C07F-0524AFBEA38F}"/>
              </a:ext>
            </a:extLst>
          </p:cNvPr>
          <p:cNvSpPr/>
          <p:nvPr/>
        </p:nvSpPr>
        <p:spPr>
          <a:xfrm>
            <a:off x="0" y="0"/>
            <a:ext cx="9144000" cy="1390200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highlight>
                <a:srgbClr val="B6D7A8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4">
            <a:extLst>
              <a:ext uri="{FF2B5EF4-FFF2-40B4-BE49-F238E27FC236}">
                <a16:creationId xmlns:a16="http://schemas.microsoft.com/office/drawing/2014/main" id="{E55576B5-7418-C30C-5AE6-348CFF03BE0A}"/>
              </a:ext>
            </a:extLst>
          </p:cNvPr>
          <p:cNvSpPr txBox="1"/>
          <p:nvPr/>
        </p:nvSpPr>
        <p:spPr>
          <a:xfrm>
            <a:off x="895525" y="3372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500" b="0" i="0" u="none" strike="noStrike" cap="none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  <a:extLst>
                  <a:ext uri="http://customooxmlschemas.google.com/">
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0"/>
                  </a:ext>
                </a:extLst>
              </a:rPr>
              <a:t>Analyses </a:t>
            </a:r>
            <a:r>
              <a:rPr lang="fr" sz="250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  <a:extLst>
                  <a:ext uri="http://customooxmlschemas.google.com/">
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1"/>
                  </a:ext>
                </a:extLst>
              </a:rPr>
              <a:t>Exploratoires</a:t>
            </a:r>
            <a:r>
              <a:rPr lang="fr" sz="2500" b="0" i="0" u="none" strike="noStrike" cap="none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  <a:extLst>
                  <a:ext uri="http://customooxmlschemas.google.com/">
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2"/>
                  </a:ext>
                </a:extLst>
              </a:rPr>
              <a:t> des Données </a:t>
            </a:r>
            <a:endParaRPr sz="2500" b="0" i="0" u="none" strike="noStrike" cap="none">
              <a:solidFill>
                <a:srgbClr val="F3F3F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6" name="Google Shape;66;p4">
            <a:extLst>
              <a:ext uri="{FF2B5EF4-FFF2-40B4-BE49-F238E27FC236}">
                <a16:creationId xmlns:a16="http://schemas.microsoft.com/office/drawing/2014/main" id="{E96F71F8-A5E7-40F5-541B-F5FAF5589CC7}"/>
              </a:ext>
            </a:extLst>
          </p:cNvPr>
          <p:cNvSpPr/>
          <p:nvPr/>
        </p:nvSpPr>
        <p:spPr>
          <a:xfrm>
            <a:off x="1012175" y="993350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EBB469D9-124E-2B41-D8F3-AB1FB0FAC8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0467" y="2709291"/>
            <a:ext cx="2979678" cy="1867062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2558B3DB-7A3A-D4A4-A4B7-7A8124E855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3857" y="2709291"/>
            <a:ext cx="2979678" cy="1516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41525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5"/>
          <p:cNvSpPr txBox="1">
            <a:spLocks noGrp="1"/>
          </p:cNvSpPr>
          <p:nvPr>
            <p:ph type="body" idx="1"/>
          </p:nvPr>
        </p:nvSpPr>
        <p:spPr>
          <a:xfrm>
            <a:off x="623400" y="1462750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>
              <a:buClr>
                <a:srgbClr val="999999"/>
              </a:buClr>
            </a:pPr>
            <a:endParaRPr lang="fr" dirty="0">
              <a:solidFill>
                <a:schemeClr val="tx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>
              <a:buClr>
                <a:srgbClr val="999999"/>
              </a:buClr>
            </a:pPr>
            <a:endParaRPr lang="fr" dirty="0">
              <a:solidFill>
                <a:schemeClr val="tx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14300" indent="0">
              <a:buClr>
                <a:srgbClr val="999999"/>
              </a:buClr>
              <a:buNone/>
            </a:pPr>
            <a:endParaRPr lang="fr" dirty="0">
              <a:solidFill>
                <a:schemeClr val="tx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>
              <a:buClr>
                <a:srgbClr val="999999"/>
              </a:buClr>
            </a:pPr>
            <a:r>
              <a:rPr lang="fr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Suppression des colonnes non pertinentes</a:t>
            </a:r>
            <a:endParaRPr dirty="0">
              <a:solidFill>
                <a:schemeClr val="tx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>
              <a:buClr>
                <a:srgbClr val="999999"/>
              </a:buClr>
            </a:pPr>
            <a:r>
              <a:rPr lang="fr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Vigilance </a:t>
            </a:r>
          </a:p>
          <a:p>
            <a:pPr lvl="1">
              <a:buClr>
                <a:srgbClr val="999999"/>
              </a:buClr>
            </a:pPr>
            <a:r>
              <a:rPr lang="fr-FR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a</a:t>
            </a:r>
            <a:r>
              <a:rPr lang="fr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u type de fusion</a:t>
            </a:r>
          </a:p>
          <a:p>
            <a:pPr lvl="1">
              <a:buClr>
                <a:srgbClr val="999999"/>
              </a:buClr>
            </a:pPr>
            <a:r>
              <a:rPr lang="fr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aux doublons, NaN</a:t>
            </a:r>
          </a:p>
          <a:p>
            <a:pPr lvl="1">
              <a:buClr>
                <a:srgbClr val="999999"/>
              </a:buClr>
            </a:pPr>
            <a:r>
              <a:rPr lang="fr-FR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a</a:t>
            </a:r>
            <a:r>
              <a:rPr lang="fr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ux lignes sans correspondance</a:t>
            </a:r>
          </a:p>
          <a:p>
            <a:pPr>
              <a:buClr>
                <a:srgbClr val="999999"/>
              </a:buClr>
            </a:pPr>
            <a:endParaRPr lang="fr" dirty="0">
              <a:solidFill>
                <a:schemeClr val="tx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2" name="Google Shape;72;p5"/>
          <p:cNvSpPr/>
          <p:nvPr/>
        </p:nvSpPr>
        <p:spPr>
          <a:xfrm>
            <a:off x="0" y="0"/>
            <a:ext cx="9144000" cy="1390200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5"/>
          <p:cNvSpPr txBox="1"/>
          <p:nvPr/>
        </p:nvSpPr>
        <p:spPr>
          <a:xfrm>
            <a:off x="895525" y="3372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500" b="0" i="0" u="none" strike="noStrike" cap="none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rPr>
              <a:t>Fusion ou consolidations des données</a:t>
            </a:r>
            <a:endParaRPr sz="2500" b="0" i="0" u="none" strike="noStrike" cap="none">
              <a:solidFill>
                <a:srgbClr val="F3F3F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4" name="Google Shape;74;p5"/>
          <p:cNvSpPr/>
          <p:nvPr/>
        </p:nvSpPr>
        <p:spPr>
          <a:xfrm>
            <a:off x="1012175" y="993350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BEC61C21-CB0E-E150-9062-68C6A776A1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7780" y="1632192"/>
            <a:ext cx="3010161" cy="693480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A02A33CF-13B2-34EE-8C4C-425A7315BE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6061" y="1727450"/>
            <a:ext cx="1005927" cy="502964"/>
          </a:xfrm>
          <a:prstGeom prst="rect">
            <a:avLst/>
          </a:prstGeom>
        </p:spPr>
      </p:pic>
      <p:cxnSp>
        <p:nvCxnSpPr>
          <p:cNvPr id="7" name="Connecteur droit avec flèche 6">
            <a:extLst>
              <a:ext uri="{FF2B5EF4-FFF2-40B4-BE49-F238E27FC236}">
                <a16:creationId xmlns:a16="http://schemas.microsoft.com/office/drawing/2014/main" id="{2BA30339-FD7A-E4B2-2400-7AC7C17873D3}"/>
              </a:ext>
            </a:extLst>
          </p:cNvPr>
          <p:cNvCxnSpPr>
            <a:cxnSpLocks/>
          </p:cNvCxnSpPr>
          <p:nvPr/>
        </p:nvCxnSpPr>
        <p:spPr>
          <a:xfrm>
            <a:off x="4068382" y="1978932"/>
            <a:ext cx="91574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6"/>
          <p:cNvSpPr txBox="1">
            <a:spLocks noGrp="1"/>
          </p:cNvSpPr>
          <p:nvPr>
            <p:ph type="body" idx="1"/>
          </p:nvPr>
        </p:nvSpPr>
        <p:spPr>
          <a:xfrm>
            <a:off x="557279" y="1528607"/>
            <a:ext cx="81424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1143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800"/>
              <a:buNone/>
            </a:pPr>
            <a:r>
              <a:rPr lang="fr" u="sng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Indicateurs :</a:t>
            </a:r>
            <a:r>
              <a:rPr lang="fr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	prix moyen = 32.31		ecart-type = 27.62</a:t>
            </a:r>
          </a:p>
          <a:p>
            <a:pPr marL="1143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800"/>
              <a:buNone/>
            </a:pPr>
            <a:r>
              <a:rPr lang="fr-FR" u="sng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O</a:t>
            </a:r>
            <a:r>
              <a:rPr lang="fr" u="sng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utliers :</a:t>
            </a:r>
            <a:r>
              <a:rPr lang="fr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	Z-index(3) : prix&gt;115.17	écart interquartile : prix&gt;83.7</a:t>
            </a:r>
          </a:p>
        </p:txBody>
      </p:sp>
      <p:sp>
        <p:nvSpPr>
          <p:cNvPr id="80" name="Google Shape;80;p6"/>
          <p:cNvSpPr/>
          <p:nvPr/>
        </p:nvSpPr>
        <p:spPr>
          <a:xfrm>
            <a:off x="0" y="0"/>
            <a:ext cx="9144000" cy="1390200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6"/>
          <p:cNvSpPr txBox="1"/>
          <p:nvPr/>
        </p:nvSpPr>
        <p:spPr>
          <a:xfrm>
            <a:off x="895525" y="3372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500" b="0" i="0" u="none" strike="noStrike" cap="none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rPr>
              <a:t>Analyses univariées du prix</a:t>
            </a:r>
            <a:endParaRPr sz="2500" b="0" i="0" u="none" strike="noStrike" cap="none">
              <a:solidFill>
                <a:srgbClr val="F3F3F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2" name="Google Shape;82;p6"/>
          <p:cNvSpPr/>
          <p:nvPr/>
        </p:nvSpPr>
        <p:spPr>
          <a:xfrm>
            <a:off x="1012175" y="993350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B8B4EDE0-8C10-A084-EC8E-1679368A3E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4875" y="2499809"/>
            <a:ext cx="5868303" cy="264369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">
          <a:extLst>
            <a:ext uri="{FF2B5EF4-FFF2-40B4-BE49-F238E27FC236}">
              <a16:creationId xmlns:a16="http://schemas.microsoft.com/office/drawing/2014/main" id="{0936A4E2-7D40-D112-3F66-15B04E0C26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6">
            <a:extLst>
              <a:ext uri="{FF2B5EF4-FFF2-40B4-BE49-F238E27FC236}">
                <a16:creationId xmlns:a16="http://schemas.microsoft.com/office/drawing/2014/main" id="{ECAF6747-A85F-E0DF-0001-ACE4A80C58D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57279" y="1528607"/>
            <a:ext cx="81424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1143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800"/>
              <a:buNone/>
            </a:pPr>
            <a:r>
              <a:rPr lang="fr-FR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Attention : o</a:t>
            </a:r>
            <a:r>
              <a:rPr lang="fr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utliers ≠ anomalie </a:t>
            </a:r>
            <a:endParaRPr dirty="0">
              <a:solidFill>
                <a:schemeClr val="tx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0" name="Google Shape;80;p6">
            <a:extLst>
              <a:ext uri="{FF2B5EF4-FFF2-40B4-BE49-F238E27FC236}">
                <a16:creationId xmlns:a16="http://schemas.microsoft.com/office/drawing/2014/main" id="{D926E1E5-7C88-CAE5-A440-777220A7E401}"/>
              </a:ext>
            </a:extLst>
          </p:cNvPr>
          <p:cNvSpPr/>
          <p:nvPr/>
        </p:nvSpPr>
        <p:spPr>
          <a:xfrm>
            <a:off x="0" y="0"/>
            <a:ext cx="9144000" cy="1390200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6">
            <a:extLst>
              <a:ext uri="{FF2B5EF4-FFF2-40B4-BE49-F238E27FC236}">
                <a16:creationId xmlns:a16="http://schemas.microsoft.com/office/drawing/2014/main" id="{6F648DB6-BD8C-78AB-CEBC-795BB388690C}"/>
              </a:ext>
            </a:extLst>
          </p:cNvPr>
          <p:cNvSpPr txBox="1"/>
          <p:nvPr/>
        </p:nvSpPr>
        <p:spPr>
          <a:xfrm>
            <a:off x="895525" y="3372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500" b="0" i="0" u="none" strike="noStrike" cap="none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rPr>
              <a:t>Analyses univariées du prix</a:t>
            </a:r>
            <a:endParaRPr sz="2500" b="0" i="0" u="none" strike="noStrike" cap="none">
              <a:solidFill>
                <a:srgbClr val="F3F3F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2" name="Google Shape;82;p6">
            <a:extLst>
              <a:ext uri="{FF2B5EF4-FFF2-40B4-BE49-F238E27FC236}">
                <a16:creationId xmlns:a16="http://schemas.microsoft.com/office/drawing/2014/main" id="{037F4B22-7BCF-FF00-DC26-D2F9692D54A6}"/>
              </a:ext>
            </a:extLst>
          </p:cNvPr>
          <p:cNvSpPr/>
          <p:nvPr/>
        </p:nvSpPr>
        <p:spPr>
          <a:xfrm>
            <a:off x="1012175" y="993350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48C554F0-3207-432D-6681-0656A02450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746" y="2042606"/>
            <a:ext cx="8403465" cy="2388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95660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7"/>
          <p:cNvSpPr/>
          <p:nvPr/>
        </p:nvSpPr>
        <p:spPr>
          <a:xfrm>
            <a:off x="0" y="0"/>
            <a:ext cx="9144000" cy="1390200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7"/>
          <p:cNvSpPr txBox="1"/>
          <p:nvPr/>
        </p:nvSpPr>
        <p:spPr>
          <a:xfrm>
            <a:off x="895525" y="3372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5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500" b="0" i="0" u="none" strike="noStrike" cap="none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rPr>
              <a:t>Analyses complémentaires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500" dirty="0">
                <a:solidFill>
                  <a:srgbClr val="F3F3F3"/>
                </a:solidFill>
                <a:latin typeface="Montserrat"/>
                <a:sym typeface="Montserrat"/>
              </a:rPr>
              <a:t>CA, quantités, stocks, taux de marge et corrélations</a:t>
            </a:r>
            <a:endParaRPr dirty="0"/>
          </a:p>
        </p:txBody>
      </p:sp>
      <p:sp>
        <p:nvSpPr>
          <p:cNvPr id="89" name="Google Shape;89;p7"/>
          <p:cNvSpPr/>
          <p:nvPr/>
        </p:nvSpPr>
        <p:spPr>
          <a:xfrm>
            <a:off x="1012175" y="993350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7"/>
          <p:cNvSpPr txBox="1">
            <a:spLocks noGrp="1"/>
          </p:cNvSpPr>
          <p:nvPr>
            <p:ph type="body" idx="1"/>
          </p:nvPr>
        </p:nvSpPr>
        <p:spPr>
          <a:xfrm>
            <a:off x="1089911" y="1535583"/>
            <a:ext cx="749927" cy="519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1143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800"/>
              <a:buNone/>
            </a:pPr>
            <a:r>
              <a:rPr lang="fr-FR" b="1" u="sng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CA</a:t>
            </a:r>
          </a:p>
          <a:p>
            <a:pPr marL="1143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800"/>
              <a:buNone/>
            </a:pPr>
            <a:endParaRPr lang="fr-FR" b="1" u="sng" dirty="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143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800"/>
              <a:buNone/>
            </a:pPr>
            <a:endParaRPr lang="fr-FR" b="1" u="sng" dirty="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143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800"/>
              <a:buNone/>
            </a:pPr>
            <a:endParaRPr lang="fr-FR" b="1" u="sng" dirty="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143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800"/>
              <a:buNone/>
            </a:pPr>
            <a:endParaRPr lang="fr-FR" b="1" u="sng" dirty="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143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800"/>
              <a:buNone/>
            </a:pPr>
            <a:endParaRPr lang="fr-FR" b="1" u="sng" dirty="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143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800"/>
              <a:buNone/>
            </a:pPr>
            <a:endParaRPr lang="fr-FR" b="1" u="sng" dirty="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2042532E-85BA-3A87-EC34-2EB6D2FA0F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0365" y="1703282"/>
            <a:ext cx="6313635" cy="3067050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E232BAE6-ED8F-AAF2-E239-174AD6FD4A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0135" y="2455961"/>
            <a:ext cx="2089477" cy="361145"/>
          </a:xfrm>
          <a:prstGeom prst="rect">
            <a:avLst/>
          </a:prstGeom>
        </p:spPr>
      </p:pic>
      <p:pic>
        <p:nvPicPr>
          <p:cNvPr id="3" name="Image 2">
            <a:extLst>
              <a:ext uri="{FF2B5EF4-FFF2-40B4-BE49-F238E27FC236}">
                <a16:creationId xmlns:a16="http://schemas.microsoft.com/office/drawing/2014/main" id="{34E7E850-DC92-13CB-3AC2-3B48242F707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7469" y="2073804"/>
            <a:ext cx="2134810" cy="252591"/>
          </a:xfrm>
          <a:prstGeom prst="rect">
            <a:avLst/>
          </a:prstGeom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7E3A6AB0-7263-7C41-BD96-94A0E6C7BC78}"/>
              </a:ext>
            </a:extLst>
          </p:cNvPr>
          <p:cNvSpPr txBox="1"/>
          <p:nvPr/>
        </p:nvSpPr>
        <p:spPr>
          <a:xfrm>
            <a:off x="474515" y="3009999"/>
            <a:ext cx="23558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latin typeface="Montserrat" panose="00000500000000000000" pitchFamily="2" charset="0"/>
              </a:rPr>
              <a:t>0bservations 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>
                <a:latin typeface="Montserrat" panose="00000500000000000000" pitchFamily="2" charset="0"/>
              </a:rPr>
              <a:t>Vins et champagnes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>
          <a:extLst>
            <a:ext uri="{FF2B5EF4-FFF2-40B4-BE49-F238E27FC236}">
              <a16:creationId xmlns:a16="http://schemas.microsoft.com/office/drawing/2014/main" id="{E7AB9B84-98A6-C934-38E4-C61DCD2A54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7">
            <a:extLst>
              <a:ext uri="{FF2B5EF4-FFF2-40B4-BE49-F238E27FC236}">
                <a16:creationId xmlns:a16="http://schemas.microsoft.com/office/drawing/2014/main" id="{8D90C0EE-1D70-8EF5-76CD-282D9B2CCEAC}"/>
              </a:ext>
            </a:extLst>
          </p:cNvPr>
          <p:cNvSpPr/>
          <p:nvPr/>
        </p:nvSpPr>
        <p:spPr>
          <a:xfrm>
            <a:off x="0" y="0"/>
            <a:ext cx="9144000" cy="1390200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7">
            <a:extLst>
              <a:ext uri="{FF2B5EF4-FFF2-40B4-BE49-F238E27FC236}">
                <a16:creationId xmlns:a16="http://schemas.microsoft.com/office/drawing/2014/main" id="{EE1B191C-5F73-3492-BBCB-3E7F282F8BC4}"/>
              </a:ext>
            </a:extLst>
          </p:cNvPr>
          <p:cNvSpPr txBox="1"/>
          <p:nvPr/>
        </p:nvSpPr>
        <p:spPr>
          <a:xfrm>
            <a:off x="895525" y="3372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5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500" b="0" i="0" u="none" strike="noStrike" cap="none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rPr>
              <a:t>Analyses complémentaires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500" dirty="0">
                <a:solidFill>
                  <a:srgbClr val="F3F3F3"/>
                </a:solidFill>
                <a:latin typeface="Montserrat"/>
                <a:sym typeface="Montserrat"/>
              </a:rPr>
              <a:t>CA, quantités, stocks, taux de marge et corrélations</a:t>
            </a:r>
            <a:endParaRPr dirty="0"/>
          </a:p>
        </p:txBody>
      </p:sp>
      <p:sp>
        <p:nvSpPr>
          <p:cNvPr id="89" name="Google Shape;89;p7">
            <a:extLst>
              <a:ext uri="{FF2B5EF4-FFF2-40B4-BE49-F238E27FC236}">
                <a16:creationId xmlns:a16="http://schemas.microsoft.com/office/drawing/2014/main" id="{C3EB82C7-183C-1121-B293-E4C4759004E2}"/>
              </a:ext>
            </a:extLst>
          </p:cNvPr>
          <p:cNvSpPr/>
          <p:nvPr/>
        </p:nvSpPr>
        <p:spPr>
          <a:xfrm>
            <a:off x="1012175" y="993350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7">
            <a:extLst>
              <a:ext uri="{FF2B5EF4-FFF2-40B4-BE49-F238E27FC236}">
                <a16:creationId xmlns:a16="http://schemas.microsoft.com/office/drawing/2014/main" id="{F8FA33EA-CB23-C0F1-616F-7F1A3E1A832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43314" y="1587724"/>
            <a:ext cx="2643121" cy="5581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1143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800"/>
              <a:buNone/>
            </a:pPr>
            <a:r>
              <a:rPr lang="fr" b="1" u="sng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Volume des ventes</a:t>
            </a: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FDBD32DE-1A24-D124-B41D-D825219FA0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40980" y="1866805"/>
            <a:ext cx="5896146" cy="2846230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111A2186-5FD2-63FC-7FE9-EF0646A683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585" y="2361131"/>
            <a:ext cx="2643121" cy="451933"/>
          </a:xfrm>
          <a:prstGeom prst="rect">
            <a:avLst/>
          </a:prstGeom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23624458-424B-532C-2052-C68D1D690C73}"/>
              </a:ext>
            </a:extLst>
          </p:cNvPr>
          <p:cNvSpPr txBox="1"/>
          <p:nvPr/>
        </p:nvSpPr>
        <p:spPr>
          <a:xfrm>
            <a:off x="464221" y="3028310"/>
            <a:ext cx="23558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latin typeface="Montserrat" panose="00000500000000000000" pitchFamily="2" charset="0"/>
              </a:rPr>
              <a:t>0bservations 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>
                <a:latin typeface="Montserrat" panose="00000500000000000000" pitchFamily="2" charset="0"/>
              </a:rPr>
              <a:t>Majorité de Vins</a:t>
            </a:r>
          </a:p>
        </p:txBody>
      </p:sp>
    </p:spTree>
    <p:extLst>
      <p:ext uri="{BB962C8B-B14F-4D97-AF65-F5344CB8AC3E}">
        <p14:creationId xmlns:p14="http://schemas.microsoft.com/office/powerpoint/2010/main" val="19646239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>
          <a:extLst>
            <a:ext uri="{FF2B5EF4-FFF2-40B4-BE49-F238E27FC236}">
              <a16:creationId xmlns:a16="http://schemas.microsoft.com/office/drawing/2014/main" id="{6A35EEBB-ED5B-1431-627E-66A55D0312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7">
            <a:extLst>
              <a:ext uri="{FF2B5EF4-FFF2-40B4-BE49-F238E27FC236}">
                <a16:creationId xmlns:a16="http://schemas.microsoft.com/office/drawing/2014/main" id="{DBBA774C-BA5E-E2AD-71BE-F6966D73E60A}"/>
              </a:ext>
            </a:extLst>
          </p:cNvPr>
          <p:cNvSpPr/>
          <p:nvPr/>
        </p:nvSpPr>
        <p:spPr>
          <a:xfrm>
            <a:off x="0" y="0"/>
            <a:ext cx="9144000" cy="1390200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7">
            <a:extLst>
              <a:ext uri="{FF2B5EF4-FFF2-40B4-BE49-F238E27FC236}">
                <a16:creationId xmlns:a16="http://schemas.microsoft.com/office/drawing/2014/main" id="{E5BB9054-6BD7-494F-A92D-5D025A56372D}"/>
              </a:ext>
            </a:extLst>
          </p:cNvPr>
          <p:cNvSpPr txBox="1"/>
          <p:nvPr/>
        </p:nvSpPr>
        <p:spPr>
          <a:xfrm>
            <a:off x="895525" y="3372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5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500" b="0" i="0" u="none" strike="noStrike" cap="none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rPr>
              <a:t>Analyses complémentaires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500" dirty="0">
                <a:solidFill>
                  <a:srgbClr val="F3F3F3"/>
                </a:solidFill>
                <a:latin typeface="Montserrat"/>
                <a:sym typeface="Montserrat"/>
              </a:rPr>
              <a:t>CA, quantités, stocks, taux de marge et corrélations</a:t>
            </a:r>
            <a:endParaRPr dirty="0"/>
          </a:p>
        </p:txBody>
      </p:sp>
      <p:sp>
        <p:nvSpPr>
          <p:cNvPr id="89" name="Google Shape;89;p7">
            <a:extLst>
              <a:ext uri="{FF2B5EF4-FFF2-40B4-BE49-F238E27FC236}">
                <a16:creationId xmlns:a16="http://schemas.microsoft.com/office/drawing/2014/main" id="{CFC80CDA-898D-65E8-D69E-A61633E9CD9B}"/>
              </a:ext>
            </a:extLst>
          </p:cNvPr>
          <p:cNvSpPr/>
          <p:nvPr/>
        </p:nvSpPr>
        <p:spPr>
          <a:xfrm>
            <a:off x="1012175" y="993350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7">
            <a:extLst>
              <a:ext uri="{FF2B5EF4-FFF2-40B4-BE49-F238E27FC236}">
                <a16:creationId xmlns:a16="http://schemas.microsoft.com/office/drawing/2014/main" id="{75DB73D3-F3A3-8659-2B6A-E914B671C77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70970" y="1600326"/>
            <a:ext cx="1187808" cy="506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1143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800"/>
              <a:buNone/>
            </a:pPr>
            <a:r>
              <a:rPr lang="fr" b="1" u="sng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Stocks</a:t>
            </a:r>
          </a:p>
          <a:p>
            <a:pPr marL="1143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800"/>
              <a:buNone/>
            </a:pPr>
            <a:endParaRPr lang="fr" i="1" dirty="0">
              <a:solidFill>
                <a:schemeClr val="tx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143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800"/>
              <a:buNone/>
            </a:pPr>
            <a:endParaRPr dirty="0">
              <a:solidFill>
                <a:schemeClr val="tx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73848EDC-7343-AEDD-B0D3-6C2F2FB079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896" y="2283387"/>
            <a:ext cx="2343955" cy="186982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3A2FB36C-80CC-92E8-B2C7-5620AD76C6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958" y="2571750"/>
            <a:ext cx="2741834" cy="199648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37883C98-5751-4C49-FC46-D5FA93B45DB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34827" y="1824791"/>
            <a:ext cx="5915215" cy="2981459"/>
          </a:xfrm>
          <a:prstGeom prst="rect">
            <a:avLst/>
          </a:prstGeom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03CB0EFD-B243-5E29-F9CE-C9D30727EE8B}"/>
              </a:ext>
            </a:extLst>
          </p:cNvPr>
          <p:cNvSpPr txBox="1"/>
          <p:nvPr/>
        </p:nvSpPr>
        <p:spPr>
          <a:xfrm>
            <a:off x="474515" y="3009999"/>
            <a:ext cx="235585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latin typeface="Montserrat" panose="00000500000000000000" pitchFamily="2" charset="0"/>
              </a:rPr>
              <a:t>0bservations 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>
                <a:latin typeface="Montserrat" panose="00000500000000000000" pitchFamily="2" charset="0"/>
              </a:rPr>
              <a:t>Très grande majorité de champagnes</a:t>
            </a:r>
          </a:p>
        </p:txBody>
      </p:sp>
    </p:spTree>
    <p:extLst>
      <p:ext uri="{BB962C8B-B14F-4D97-AF65-F5344CB8AC3E}">
        <p14:creationId xmlns:p14="http://schemas.microsoft.com/office/powerpoint/2010/main" val="42844811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>
          <a:extLst>
            <a:ext uri="{FF2B5EF4-FFF2-40B4-BE49-F238E27FC236}">
              <a16:creationId xmlns:a16="http://schemas.microsoft.com/office/drawing/2014/main" id="{7C23FD06-2A78-F1B5-9830-D3430ECCF0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7">
            <a:extLst>
              <a:ext uri="{FF2B5EF4-FFF2-40B4-BE49-F238E27FC236}">
                <a16:creationId xmlns:a16="http://schemas.microsoft.com/office/drawing/2014/main" id="{D728ED0F-FE54-03EA-F0B5-D267AC38BDCF}"/>
              </a:ext>
            </a:extLst>
          </p:cNvPr>
          <p:cNvSpPr/>
          <p:nvPr/>
        </p:nvSpPr>
        <p:spPr>
          <a:xfrm>
            <a:off x="0" y="0"/>
            <a:ext cx="9144000" cy="1390200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7">
            <a:extLst>
              <a:ext uri="{FF2B5EF4-FFF2-40B4-BE49-F238E27FC236}">
                <a16:creationId xmlns:a16="http://schemas.microsoft.com/office/drawing/2014/main" id="{BCF4DF95-7524-09B4-8F0F-4EEBCD3E7D8C}"/>
              </a:ext>
            </a:extLst>
          </p:cNvPr>
          <p:cNvSpPr txBox="1"/>
          <p:nvPr/>
        </p:nvSpPr>
        <p:spPr>
          <a:xfrm>
            <a:off x="895525" y="3372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5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500" b="0" i="0" u="none" strike="noStrike" cap="none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rPr>
              <a:t>Analyses complémentaires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500" dirty="0">
                <a:solidFill>
                  <a:srgbClr val="F3F3F3"/>
                </a:solidFill>
                <a:latin typeface="Montserrat"/>
                <a:sym typeface="Montserrat"/>
              </a:rPr>
              <a:t>CA, quantités, stocks, taux de marge et corrélations</a:t>
            </a:r>
            <a:endParaRPr dirty="0"/>
          </a:p>
        </p:txBody>
      </p:sp>
      <p:sp>
        <p:nvSpPr>
          <p:cNvPr id="89" name="Google Shape;89;p7">
            <a:extLst>
              <a:ext uri="{FF2B5EF4-FFF2-40B4-BE49-F238E27FC236}">
                <a16:creationId xmlns:a16="http://schemas.microsoft.com/office/drawing/2014/main" id="{28DEE47E-ADF8-050C-6265-38A9906F1B4D}"/>
              </a:ext>
            </a:extLst>
          </p:cNvPr>
          <p:cNvSpPr/>
          <p:nvPr/>
        </p:nvSpPr>
        <p:spPr>
          <a:xfrm>
            <a:off x="1012175" y="993350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7">
            <a:extLst>
              <a:ext uri="{FF2B5EF4-FFF2-40B4-BE49-F238E27FC236}">
                <a16:creationId xmlns:a16="http://schemas.microsoft.com/office/drawing/2014/main" id="{2C16857D-34EF-25CC-48B9-90DF9D80F88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56068" y="1663374"/>
            <a:ext cx="2217612" cy="5448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1143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800"/>
              <a:buNone/>
            </a:pPr>
            <a:r>
              <a:rPr lang="fr" b="1" u="sng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Taux de marge</a:t>
            </a:r>
          </a:p>
          <a:p>
            <a:pPr marL="1143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800"/>
              <a:buNone/>
            </a:pPr>
            <a:endParaRPr lang="fr" i="1" dirty="0">
              <a:solidFill>
                <a:schemeClr val="tx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143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800"/>
              <a:buNone/>
            </a:pPr>
            <a:endParaRPr dirty="0">
              <a:solidFill>
                <a:schemeClr val="tx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2223C44F-7DD2-57B8-4502-46F8249AD8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746" y="3189266"/>
            <a:ext cx="2808255" cy="453567"/>
          </a:xfrm>
          <a:prstGeom prst="rect">
            <a:avLst/>
          </a:prstGeom>
        </p:spPr>
      </p:pic>
      <p:pic>
        <p:nvPicPr>
          <p:cNvPr id="4" name="Image 3">
            <a:extLst>
              <a:ext uri="{FF2B5EF4-FFF2-40B4-BE49-F238E27FC236}">
                <a16:creationId xmlns:a16="http://schemas.microsoft.com/office/drawing/2014/main" id="{45F53351-B369-69C6-216E-0F8CCF3AD9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34224" y="1935820"/>
            <a:ext cx="6109776" cy="29604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00360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>
          <a:extLst>
            <a:ext uri="{FF2B5EF4-FFF2-40B4-BE49-F238E27FC236}">
              <a16:creationId xmlns:a16="http://schemas.microsoft.com/office/drawing/2014/main" id="{DC6D70B0-CEC6-B5C9-9077-51A5930338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7">
            <a:extLst>
              <a:ext uri="{FF2B5EF4-FFF2-40B4-BE49-F238E27FC236}">
                <a16:creationId xmlns:a16="http://schemas.microsoft.com/office/drawing/2014/main" id="{8F36385D-188C-2E94-88C0-41F04055971C}"/>
              </a:ext>
            </a:extLst>
          </p:cNvPr>
          <p:cNvSpPr/>
          <p:nvPr/>
        </p:nvSpPr>
        <p:spPr>
          <a:xfrm>
            <a:off x="0" y="0"/>
            <a:ext cx="9144000" cy="1390200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7">
            <a:extLst>
              <a:ext uri="{FF2B5EF4-FFF2-40B4-BE49-F238E27FC236}">
                <a16:creationId xmlns:a16="http://schemas.microsoft.com/office/drawing/2014/main" id="{12BD4E82-5D49-4220-6FA6-CAA98EDC3D3B}"/>
              </a:ext>
            </a:extLst>
          </p:cNvPr>
          <p:cNvSpPr txBox="1"/>
          <p:nvPr/>
        </p:nvSpPr>
        <p:spPr>
          <a:xfrm>
            <a:off x="895525" y="3372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5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500" b="0" i="0" u="none" strike="noStrike" cap="none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rPr>
              <a:t>Analyses complémentaires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500" dirty="0">
                <a:solidFill>
                  <a:srgbClr val="F3F3F3"/>
                </a:solidFill>
                <a:latin typeface="Montserrat"/>
                <a:sym typeface="Montserrat"/>
              </a:rPr>
              <a:t>CA, quantités, stocks, taux de marge et corrélations</a:t>
            </a:r>
            <a:endParaRPr dirty="0"/>
          </a:p>
        </p:txBody>
      </p:sp>
      <p:sp>
        <p:nvSpPr>
          <p:cNvPr id="89" name="Google Shape;89;p7">
            <a:extLst>
              <a:ext uri="{FF2B5EF4-FFF2-40B4-BE49-F238E27FC236}">
                <a16:creationId xmlns:a16="http://schemas.microsoft.com/office/drawing/2014/main" id="{CF920FE3-D176-BF74-8DFE-886D58489AC0}"/>
              </a:ext>
            </a:extLst>
          </p:cNvPr>
          <p:cNvSpPr/>
          <p:nvPr/>
        </p:nvSpPr>
        <p:spPr>
          <a:xfrm>
            <a:off x="1012175" y="993350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7">
            <a:extLst>
              <a:ext uri="{FF2B5EF4-FFF2-40B4-BE49-F238E27FC236}">
                <a16:creationId xmlns:a16="http://schemas.microsoft.com/office/drawing/2014/main" id="{2CEE0474-5980-9822-7FCC-487D4CBE569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56068" y="1663374"/>
            <a:ext cx="2217612" cy="5448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1143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800"/>
              <a:buNone/>
            </a:pPr>
            <a:r>
              <a:rPr lang="fr" b="1" u="sng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Taux de marge</a:t>
            </a:r>
          </a:p>
          <a:p>
            <a:pPr marL="1143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800"/>
              <a:buNone/>
            </a:pPr>
            <a:endParaRPr lang="fr" i="1" dirty="0">
              <a:solidFill>
                <a:schemeClr val="tx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143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800"/>
              <a:buNone/>
            </a:pPr>
            <a:endParaRPr dirty="0">
              <a:solidFill>
                <a:schemeClr val="tx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C29C2FCF-80A2-C5D1-7839-4B2C33281AF2}"/>
              </a:ext>
            </a:extLst>
          </p:cNvPr>
          <p:cNvSpPr txBox="1"/>
          <p:nvPr/>
        </p:nvSpPr>
        <p:spPr>
          <a:xfrm>
            <a:off x="400096" y="2208266"/>
            <a:ext cx="51249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latin typeface="Montserrat" panose="00000500000000000000" pitchFamily="2" charset="0"/>
              </a:rPr>
              <a:t>0bservations 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>
                <a:latin typeface="Montserrat" panose="00000500000000000000" pitchFamily="2" charset="0"/>
              </a:rPr>
              <a:t>Mise en évidence d’une anomalie (erreur de saisie)</a:t>
            </a: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5F39C766-7EC6-D5D5-D559-4ED20E6760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0518" y="3276378"/>
            <a:ext cx="6042962" cy="1424978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EDA7928C-6A7E-E9F6-4704-340DA922D4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84879" y="2766098"/>
            <a:ext cx="2774241" cy="4275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025645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>
          <a:extLst>
            <a:ext uri="{FF2B5EF4-FFF2-40B4-BE49-F238E27FC236}">
              <a16:creationId xmlns:a16="http://schemas.microsoft.com/office/drawing/2014/main" id="{CC91DB56-204F-AB47-F176-B96D71FCBA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7">
            <a:extLst>
              <a:ext uri="{FF2B5EF4-FFF2-40B4-BE49-F238E27FC236}">
                <a16:creationId xmlns:a16="http://schemas.microsoft.com/office/drawing/2014/main" id="{4E7BCD49-D6EC-D42F-49AA-C7AEA44F1D9E}"/>
              </a:ext>
            </a:extLst>
          </p:cNvPr>
          <p:cNvSpPr/>
          <p:nvPr/>
        </p:nvSpPr>
        <p:spPr>
          <a:xfrm>
            <a:off x="0" y="0"/>
            <a:ext cx="9144000" cy="1390200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7">
            <a:extLst>
              <a:ext uri="{FF2B5EF4-FFF2-40B4-BE49-F238E27FC236}">
                <a16:creationId xmlns:a16="http://schemas.microsoft.com/office/drawing/2014/main" id="{31151D97-73E7-F120-8C02-5E51CC644FE1}"/>
              </a:ext>
            </a:extLst>
          </p:cNvPr>
          <p:cNvSpPr txBox="1"/>
          <p:nvPr/>
        </p:nvSpPr>
        <p:spPr>
          <a:xfrm>
            <a:off x="895525" y="3372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5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500" b="0" i="0" u="none" strike="noStrike" cap="none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rPr>
              <a:t>Analyses complémentaires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500" dirty="0">
                <a:solidFill>
                  <a:srgbClr val="F3F3F3"/>
                </a:solidFill>
                <a:latin typeface="Montserrat"/>
                <a:sym typeface="Montserrat"/>
              </a:rPr>
              <a:t>CA, quantités, stocks, taux de marge et corrélations</a:t>
            </a:r>
            <a:endParaRPr dirty="0"/>
          </a:p>
        </p:txBody>
      </p:sp>
      <p:sp>
        <p:nvSpPr>
          <p:cNvPr id="89" name="Google Shape;89;p7">
            <a:extLst>
              <a:ext uri="{FF2B5EF4-FFF2-40B4-BE49-F238E27FC236}">
                <a16:creationId xmlns:a16="http://schemas.microsoft.com/office/drawing/2014/main" id="{3ED7E390-4205-6C6A-FFFC-88BC5D2A1381}"/>
              </a:ext>
            </a:extLst>
          </p:cNvPr>
          <p:cNvSpPr/>
          <p:nvPr/>
        </p:nvSpPr>
        <p:spPr>
          <a:xfrm>
            <a:off x="1012175" y="993350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7">
            <a:extLst>
              <a:ext uri="{FF2B5EF4-FFF2-40B4-BE49-F238E27FC236}">
                <a16:creationId xmlns:a16="http://schemas.microsoft.com/office/drawing/2014/main" id="{C7BE116C-126A-8B10-0C74-36F254EC410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215718" y="1500458"/>
            <a:ext cx="1793115" cy="4521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1143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800"/>
              <a:buNone/>
            </a:pPr>
            <a:r>
              <a:rPr lang="fr" b="1" u="sng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Corrélations</a:t>
            </a:r>
          </a:p>
          <a:p>
            <a:pPr marL="1143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800"/>
              <a:buNone/>
            </a:pPr>
            <a:endParaRPr lang="fr" i="1" dirty="0">
              <a:solidFill>
                <a:schemeClr val="tx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143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800"/>
              <a:buNone/>
            </a:pPr>
            <a:endParaRPr lang="fr" i="1" dirty="0">
              <a:solidFill>
                <a:schemeClr val="tx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143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800"/>
              <a:buNone/>
            </a:pPr>
            <a:endParaRPr dirty="0">
              <a:solidFill>
                <a:schemeClr val="tx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A91D7766-4298-3103-D0BA-13C9D57537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2523" y="1980708"/>
            <a:ext cx="3599506" cy="2964299"/>
          </a:xfrm>
          <a:prstGeom prst="rect">
            <a:avLst/>
          </a:prstGeom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6A812D69-EBD6-247F-5CB2-F07CF8850A53}"/>
              </a:ext>
            </a:extLst>
          </p:cNvPr>
          <p:cNvSpPr txBox="1"/>
          <p:nvPr/>
        </p:nvSpPr>
        <p:spPr>
          <a:xfrm>
            <a:off x="4572000" y="1572236"/>
            <a:ext cx="4023221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latin typeface="Montserrat" panose="00000500000000000000" pitchFamily="2" charset="0"/>
              </a:rPr>
              <a:t>0bservations 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>
                <a:latin typeface="Montserrat" panose="00000500000000000000" pitchFamily="2" charset="0"/>
              </a:rPr>
              <a:t>Relations linéaires entre le prix d’achat, le prix HT et le prix de vente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>
                <a:latin typeface="Montserrat" panose="00000500000000000000" pitchFamily="2" charset="0"/>
              </a:rPr>
              <a:t>Plus le prix baisse, plus les ventes augmentent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>
                <a:latin typeface="Montserrat" panose="00000500000000000000" pitchFamily="2" charset="0"/>
              </a:rPr>
              <a:t>Stocks à revoir pour certains produits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D0F278F7-E0D7-6115-40A4-5665E8B8E0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72868" y="3139267"/>
            <a:ext cx="1539373" cy="1600339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AA82CD50-36A9-0E83-4782-3A31B95DCCE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08098" y="3318500"/>
            <a:ext cx="358171" cy="1386960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14A31F53-6AD0-E0BD-5A31-60CDA8DB3B1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49016" y="4782335"/>
            <a:ext cx="1303133" cy="266723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E14796AE-DA28-FB10-5BF2-D188EB88D58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73080" y="3162129"/>
            <a:ext cx="1577477" cy="1577477"/>
          </a:xfrm>
          <a:prstGeom prst="rect">
            <a:avLst/>
          </a:prstGeom>
        </p:spPr>
      </p:pic>
      <p:pic>
        <p:nvPicPr>
          <p:cNvPr id="13" name="Image 12">
            <a:extLst>
              <a:ext uri="{FF2B5EF4-FFF2-40B4-BE49-F238E27FC236}">
                <a16:creationId xmlns:a16="http://schemas.microsoft.com/office/drawing/2014/main" id="{C9179405-3B30-949A-2139-D0A54F6EA46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83610" y="3204190"/>
            <a:ext cx="388654" cy="1501270"/>
          </a:xfrm>
          <a:prstGeom prst="rect">
            <a:avLst/>
          </a:prstGeom>
        </p:spPr>
      </p:pic>
      <p:pic>
        <p:nvPicPr>
          <p:cNvPr id="15" name="Image 14">
            <a:extLst>
              <a:ext uri="{FF2B5EF4-FFF2-40B4-BE49-F238E27FC236}">
                <a16:creationId xmlns:a16="http://schemas.microsoft.com/office/drawing/2014/main" id="{5C66BBBE-8E76-A23C-B5DB-8A110CE5BD8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066689" y="4782334"/>
            <a:ext cx="1295512" cy="2667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103237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13f9e8f1567_0_0"/>
          <p:cNvSpPr/>
          <p:nvPr/>
        </p:nvSpPr>
        <p:spPr>
          <a:xfrm>
            <a:off x="0" y="0"/>
            <a:ext cx="9144000" cy="1390200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g13f9e8f1567_0_0"/>
          <p:cNvSpPr txBox="1"/>
          <p:nvPr/>
        </p:nvSpPr>
        <p:spPr>
          <a:xfrm>
            <a:off x="895525" y="3372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50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rPr>
              <a:t>Actions pour la suite</a:t>
            </a:r>
            <a:endParaRPr/>
          </a:p>
        </p:txBody>
      </p:sp>
      <p:sp>
        <p:nvSpPr>
          <p:cNvPr id="97" name="Google Shape;97;g13f9e8f1567_0_0"/>
          <p:cNvSpPr/>
          <p:nvPr/>
        </p:nvSpPr>
        <p:spPr>
          <a:xfrm>
            <a:off x="1012175" y="993350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g13f9e8f1567_0_0"/>
          <p:cNvSpPr txBox="1">
            <a:spLocks noGrp="1"/>
          </p:cNvSpPr>
          <p:nvPr>
            <p:ph type="body" idx="1"/>
          </p:nvPr>
        </p:nvSpPr>
        <p:spPr>
          <a:xfrm>
            <a:off x="557274" y="1528600"/>
            <a:ext cx="83160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i="1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Archiver les anciennes BDD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i="1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Sécuriser les sauvegardes</a:t>
            </a:r>
          </a:p>
          <a:p>
            <a:pPr marL="0" indent="0">
              <a:buNone/>
            </a:pPr>
            <a:r>
              <a:rPr lang="fr-FR" i="1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Alimenter la BDD unifiée</a:t>
            </a:r>
          </a:p>
          <a:p>
            <a:pPr marL="0" indent="0">
              <a:buNone/>
            </a:pPr>
            <a:r>
              <a:rPr lang="fr-FR" i="1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Trouver les informations correctes concernant les items supprimés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fr-FR" i="1" dirty="0">
              <a:solidFill>
                <a:schemeClr val="tx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13f9e8f1567_0_7"/>
          <p:cNvSpPr/>
          <p:nvPr/>
        </p:nvSpPr>
        <p:spPr>
          <a:xfrm>
            <a:off x="0" y="0"/>
            <a:ext cx="9144000" cy="1390200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g13f9e8f1567_0_7"/>
          <p:cNvSpPr txBox="1"/>
          <p:nvPr/>
        </p:nvSpPr>
        <p:spPr>
          <a:xfrm>
            <a:off x="895525" y="3372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50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rPr>
              <a:t>Point sur les compétences apprises</a:t>
            </a:r>
            <a:endParaRPr/>
          </a:p>
        </p:txBody>
      </p:sp>
      <p:sp>
        <p:nvSpPr>
          <p:cNvPr id="105" name="Google Shape;105;g13f9e8f1567_0_7"/>
          <p:cNvSpPr/>
          <p:nvPr/>
        </p:nvSpPr>
        <p:spPr>
          <a:xfrm>
            <a:off x="1012175" y="993350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g13f9e8f1567_0_7"/>
          <p:cNvSpPr txBox="1">
            <a:spLocks noGrp="1"/>
          </p:cNvSpPr>
          <p:nvPr>
            <p:ph type="body" idx="1"/>
          </p:nvPr>
        </p:nvSpPr>
        <p:spPr>
          <a:xfrm>
            <a:off x="557274" y="1528600"/>
            <a:ext cx="83160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800"/>
              <a:buFont typeface="Montserrat"/>
              <a:buChar char="●"/>
            </a:pPr>
            <a:r>
              <a:rPr lang="fr" i="1" dirty="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Qu’est-ce qui s’est bien passé pour vous dans ce travail de nettoyage ?</a:t>
            </a:r>
          </a:p>
          <a:p>
            <a:pPr marL="1143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800"/>
              <a:buNone/>
            </a:pPr>
            <a:r>
              <a:rPr lang="fr-FR" i="1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Je commence à acquérir des automatismes au niveau de l’exploration et du nettoyage des données</a:t>
            </a:r>
            <a:endParaRPr i="1" dirty="0">
              <a:solidFill>
                <a:schemeClr val="tx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800"/>
              <a:buFont typeface="Montserrat"/>
              <a:buChar char="●"/>
            </a:pPr>
            <a:r>
              <a:rPr lang="fr" i="1" dirty="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Qu’est-ce que vous avez trouvé le plus difficile ?</a:t>
            </a:r>
          </a:p>
          <a:p>
            <a:pPr marL="1143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800"/>
              <a:buNone/>
            </a:pPr>
            <a:r>
              <a:rPr lang="fr" i="1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La fusion via la table liaison, qui n’était pas difficile techniquement mais m’a fait douter sur les clés à utiliser</a:t>
            </a:r>
            <a:endParaRPr i="1" dirty="0">
              <a:solidFill>
                <a:schemeClr val="tx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800"/>
              <a:buFont typeface="Montserrat"/>
              <a:buChar char="●"/>
            </a:pPr>
            <a:r>
              <a:rPr lang="fr" i="1" dirty="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Sur quelles tâches est-ce que vous pensez avoir besoin de plus d'entraînement ?</a:t>
            </a:r>
          </a:p>
          <a:p>
            <a:pPr marL="1143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800"/>
              <a:buNone/>
            </a:pPr>
            <a:r>
              <a:rPr lang="fr" i="1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Sur le plotting avec plotly_express, qui a l’air d’être un outil puisssant</a:t>
            </a:r>
            <a:endParaRPr i="1" dirty="0">
              <a:solidFill>
                <a:schemeClr val="tx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495</Words>
  <Application>Microsoft Office PowerPoint</Application>
  <PresentationFormat>Affichage à l'écran (16:9)</PresentationFormat>
  <Paragraphs>106</Paragraphs>
  <Slides>18</Slides>
  <Notes>18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18</vt:i4>
      </vt:variant>
    </vt:vector>
  </HeadingPairs>
  <TitlesOfParts>
    <vt:vector size="21" baseType="lpstr">
      <vt:lpstr>Montserrat</vt:lpstr>
      <vt:lpstr>Arial</vt:lpstr>
      <vt:lpstr>Simple Light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cp:lastModifiedBy>Marvin Kangbeni</cp:lastModifiedBy>
  <cp:revision>13</cp:revision>
  <dcterms:modified xsi:type="dcterms:W3CDTF">2026-04-10T11:22:05Z</dcterms:modified>
</cp:coreProperties>
</file>